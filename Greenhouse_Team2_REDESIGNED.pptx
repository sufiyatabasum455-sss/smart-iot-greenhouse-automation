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Soil Moisture (%)</c:v>
                </c:pt>
              </c:strCache>
            </c:strRef>
          </c:tx>
          <c:spPr>
            <a:solidFill>
              <a:srgbClr val="5ECC44"/>
            </a:solidFill>
            <a:ln w="31750" cap="flat">
              <a:solidFill>
                <a:srgbClr val="5ECC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CC44"/>
              </a:solidFill>
              <a:ln w="9525" cap="flat">
                <a:solidFill>
                  <a:srgbClr val="5ECC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0h</c:v>
                  </c:pt>
                  <c:pt idx="1">
                    <c:v>2h</c:v>
                  </c:pt>
                  <c:pt idx="2">
                    <c:v>4h</c:v>
                  </c:pt>
                  <c:pt idx="3">
                    <c:v>6h</c:v>
                  </c:pt>
                  <c:pt idx="4">
                    <c:v>8h</c:v>
                  </c:pt>
                  <c:pt idx="5">
                    <c:v>10h</c:v>
                  </c:pt>
                  <c:pt idx="6">
                    <c:v>12h</c:v>
                  </c:pt>
                  <c:pt idx="7">
                    <c:v>14h</c:v>
                  </c:pt>
                  <c:pt idx="8">
                    <c:v>16h</c:v>
                  </c:pt>
                  <c:pt idx="9">
                    <c:v>18h</c:v>
                  </c:pt>
                  <c:pt idx="10">
                    <c:v>20h</c:v>
                  </c:pt>
                  <c:pt idx="11">
                    <c:v>22h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</c:v>
                </c:pt>
                <c:pt idx="1">
                  <c:v>68</c:v>
                </c:pt>
                <c:pt idx="2">
                  <c:v>61</c:v>
                </c:pt>
                <c:pt idx="3">
                  <c:v>55</c:v>
                </c:pt>
                <c:pt idx="4">
                  <c:v>48</c:v>
                </c:pt>
                <c:pt idx="5">
                  <c:v>52</c:v>
                </c:pt>
                <c:pt idx="6">
                  <c:v>58</c:v>
                </c:pt>
                <c:pt idx="7">
                  <c:v>51</c:v>
                </c:pt>
                <c:pt idx="8">
                  <c:v>44</c:v>
                </c:pt>
                <c:pt idx="9">
                  <c:v>63</c:v>
                </c:pt>
                <c:pt idx="10">
                  <c:v>70</c:v>
                </c:pt>
                <c:pt idx="11">
                  <c:v>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 (°C)</c:v>
                </c:pt>
              </c:strCache>
            </c:strRef>
          </c:tx>
          <c:spPr>
            <a:solidFill>
              <a:srgbClr val="F0934A"/>
            </a:solidFill>
            <a:ln w="31750" cap="flat">
              <a:solidFill>
                <a:srgbClr val="F09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0934A"/>
              </a:solidFill>
              <a:ln w="9525" cap="flat">
                <a:solidFill>
                  <a:srgbClr val="F09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0h</c:v>
                  </c:pt>
                  <c:pt idx="1">
                    <c:v>2h</c:v>
                  </c:pt>
                  <c:pt idx="2">
                    <c:v>4h</c:v>
                  </c:pt>
                  <c:pt idx="3">
                    <c:v>6h</c:v>
                  </c:pt>
                  <c:pt idx="4">
                    <c:v>8h</c:v>
                  </c:pt>
                  <c:pt idx="5">
                    <c:v>10h</c:v>
                  </c:pt>
                  <c:pt idx="6">
                    <c:v>12h</c:v>
                  </c:pt>
                  <c:pt idx="7">
                    <c:v>14h</c:v>
                  </c:pt>
                  <c:pt idx="8">
                    <c:v>16h</c:v>
                  </c:pt>
                  <c:pt idx="9">
                    <c:v>18h</c:v>
                  </c:pt>
                  <c:pt idx="10">
                    <c:v>20h</c:v>
                  </c:pt>
                  <c:pt idx="11">
                    <c:v>22h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22</c:v>
                </c:pt>
                <c:pt idx="1">
                  <c:v>21</c:v>
                </c:pt>
                <c:pt idx="2">
                  <c:v>20</c:v>
                </c:pt>
                <c:pt idx="3">
                  <c:v>22</c:v>
                </c:pt>
                <c:pt idx="4">
                  <c:v>26</c:v>
                </c:pt>
                <c:pt idx="5">
                  <c:v>29</c:v>
                </c:pt>
                <c:pt idx="6">
                  <c:v>32</c:v>
                </c:pt>
                <c:pt idx="7">
                  <c:v>33</c:v>
                </c:pt>
                <c:pt idx="8">
                  <c:v>31</c:v>
                </c:pt>
                <c:pt idx="9">
                  <c:v>28</c:v>
                </c:pt>
                <c:pt idx="10">
                  <c:v>25</c:v>
                </c:pt>
                <c:pt idx="11">
                  <c:v>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D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1A3D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D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8D8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E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Greenhouse</c:v>
                </c:pt>
              </c:strCache>
            </c:strRef>
          </c:tx>
          <c:spPr>
            <a:solidFill>
              <a:srgbClr val="E054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Water Used
(L/day)</c:v>
                  </c:pt>
                  <c:pt idx="1">
                    <c:v>Labor Hours
(hr/day)</c:v>
                  </c:pt>
                  <c:pt idx="2">
                    <c:v>Crop Yield
(kg/week)</c:v>
                  </c:pt>
                  <c:pt idx="3">
                    <c:v>Disease
Incidents/mo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4.5</c:v>
                </c:pt>
                <c:pt idx="2">
                  <c:v>18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Automated System</c:v>
                </c:pt>
              </c:strCache>
            </c:strRef>
          </c:tx>
          <c:spPr>
            <a:solidFill>
              <a:srgbClr val="5ECC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Water Used
(L/day)</c:v>
                  </c:pt>
                  <c:pt idx="1">
                    <c:v>Labor Hours
(hr/day)</c:v>
                  </c:pt>
                  <c:pt idx="2">
                    <c:v>Crop Yield
(kg/week)</c:v>
                  </c:pt>
                  <c:pt idx="3">
                    <c:v>Disease
Incidents/mo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1.5</c:v>
                </c:pt>
                <c:pt idx="2">
                  <c:v>22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D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1A3D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D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8D8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E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CC44"/>
              </a:solidFill>
              <a:effectLst/>
            </c:spPr>
          </c:dPt>
          <c:dPt>
            <c:idx val="1"/>
            <c:bubble3D val="0"/>
            <c:spPr>
              <a:solidFill>
                <a:srgbClr val="2EB89A"/>
              </a:solidFill>
              <a:effectLst/>
            </c:spPr>
          </c:dPt>
          <c:dPt>
            <c:idx val="2"/>
            <c:bubble3D val="0"/>
            <c:spPr>
              <a:solidFill>
                <a:srgbClr val="F5C842"/>
              </a:solidFill>
              <a:effectLst/>
            </c:spPr>
          </c:dPt>
          <c:dPt>
            <c:idx val="3"/>
            <c:bubble3D val="0"/>
            <c:spPr>
              <a:solidFill>
                <a:srgbClr val="F0934A"/>
              </a:solidFill>
              <a:effectLst/>
            </c:spPr>
          </c:dPt>
          <c:dPt>
            <c:idx val="4"/>
            <c:bubble3D val="0"/>
            <c:spPr>
              <a:solidFill>
                <a:srgbClr val="9B7A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NodeMCU (₹500)</c:v>
                </c:pt>
                <c:pt idx="1">
                  <c:v>Sensors (₹400)</c:v>
                </c:pt>
                <c:pt idx="2">
                  <c:v>Relays (₹300)</c:v>
                </c:pt>
                <c:pt idx="3">
                  <c:v>Actuators (₹600)</c:v>
                </c:pt>
                <c:pt idx="4">
                  <c:v>Power/Misc (₹200)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500</c:v>
                </c:pt>
                <c:pt idx="1">
                  <c:v>400</c:v>
                </c:pt>
                <c:pt idx="2">
                  <c:v>300</c:v>
                </c:pt>
                <c:pt idx="3">
                  <c:v>600</c:v>
                </c:pt>
                <c:pt idx="4">
                  <c:v>200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
              <a:solidFill>
                <a:srgbClr val="B8D8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E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Farms Deployed</c:v>
                </c:pt>
              </c:strCache>
            </c:strRef>
          </c:tx>
          <c:spPr>
            <a:solidFill>
              <a:srgbClr val="5ECC44"/>
            </a:solidFill>
            <a:ln w="31750" cap="flat">
              <a:solidFill>
                <a:srgbClr val="5ECC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CC44"/>
              </a:solidFill>
              <a:ln w="9525" cap="flat">
                <a:solidFill>
                  <a:srgbClr val="5ECC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Now</c:v>
                  </c:pt>
                  <c:pt idx="1">
                    <c:v>Q2 2025</c:v>
                  </c:pt>
                  <c:pt idx="2">
                    <c:v>Q4 2025</c:v>
                  </c:pt>
                  <c:pt idx="3">
                    <c:v>Q2 2026</c:v>
                  </c:pt>
                  <c:pt idx="4">
                    <c:v>Q4 2026</c:v>
                  </c:pt>
                  <c:pt idx="5">
                    <c:v>2027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8</c:v>
                </c:pt>
                <c:pt idx="2">
                  <c:v>25</c:v>
                </c:pt>
                <c:pt idx="3">
                  <c:v>75</c:v>
                </c:pt>
                <c:pt idx="4">
                  <c:v>200</c:v>
                </c:pt>
                <c:pt idx="5">
                  <c:v>500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Water Saved (kL/month)</c:v>
                </c:pt>
              </c:strCache>
            </c:strRef>
          </c:tx>
          <c:spPr>
            <a:solidFill>
              <a:srgbClr val="2EB89A"/>
            </a:solidFill>
            <a:ln w="31750" cap="flat">
              <a:solidFill>
                <a:srgbClr val="2EB8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B89A"/>
              </a:solidFill>
              <a:ln w="9525" cap="flat">
                <a:solidFill>
                  <a:srgbClr val="2EB8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Now</c:v>
                  </c:pt>
                  <c:pt idx="1">
                    <c:v>Q2 2025</c:v>
                  </c:pt>
                  <c:pt idx="2">
                    <c:v>Q4 2025</c:v>
                  </c:pt>
                  <c:pt idx="3">
                    <c:v>Q2 2026</c:v>
                  </c:pt>
                  <c:pt idx="4">
                    <c:v>Q4 2026</c:v>
                  </c:pt>
                  <c:pt idx="5">
                    <c:v>2027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4</c:v>
                </c:pt>
                <c:pt idx="2">
                  <c:v>12</c:v>
                </c:pt>
                <c:pt idx="3">
                  <c:v>38</c:v>
                </c:pt>
                <c:pt idx="4">
                  <c:v>100</c:v>
                </c:pt>
                <c:pt idx="5">
                  <c:v>250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D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D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D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B8D8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E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E2B1A"/>
          </a:solidFill>
          <a:ln w="12700">
            <a:solidFill>
              <a:srgbClr val="0E2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22E1C"/>
          </a:solidFill>
          <a:ln w="25400">
            <a:solidFill>
              <a:srgbClr val="3A91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182880"/>
            <a:ext cx="2286000" cy="2286000"/>
          </a:xfrm>
          <a:prstGeom prst="ellipse">
            <a:avLst/>
          </a:prstGeom>
          <a:solidFill>
            <a:srgbClr val="0E2B1A"/>
          </a:solidFill>
          <a:ln w="25400">
            <a:solidFill>
              <a:srgbClr val="5ECC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6858000" y="3474720"/>
            <a:ext cx="1005840" cy="502920"/>
          </a:xfrm>
          <a:prstGeom prst="ellipse">
            <a:avLst/>
          </a:prstGeom>
          <a:solidFill>
            <a:srgbClr val="3A9130">
              <a:alpha val="45000"/>
            </a:srgbClr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520000">
            <a:off x="7132320" y="3657600"/>
            <a:ext cx="1005840" cy="502920"/>
          </a:xfrm>
          <a:prstGeom prst="ellipse">
            <a:avLst/>
          </a:prstGeom>
          <a:solidFill>
            <a:srgbClr val="3A9130">
              <a:alpha val="37000"/>
            </a:srgbClr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3240000">
            <a:off x="7406640" y="3840480"/>
            <a:ext cx="1005840" cy="502920"/>
          </a:xfrm>
          <a:prstGeom prst="ellipse">
            <a:avLst/>
          </a:prstGeom>
          <a:solidFill>
            <a:srgbClr val="3A9130">
              <a:alpha val="29000"/>
            </a:srgbClr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960000">
            <a:off x="7680960" y="4023360"/>
            <a:ext cx="1005840" cy="502920"/>
          </a:xfrm>
          <a:prstGeom prst="ellipse">
            <a:avLst/>
          </a:prstGeom>
          <a:solidFill>
            <a:srgbClr val="3A9130">
              <a:alpha val="21000"/>
            </a:srgbClr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4680000">
            <a:off x="7955280" y="4206240"/>
            <a:ext cx="1005840" cy="502920"/>
          </a:xfrm>
          <a:prstGeom prst="ellipse">
            <a:avLst/>
          </a:prstGeom>
          <a:solidFill>
            <a:srgbClr val="3A9130">
              <a:alpha val="13000"/>
            </a:srgbClr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GREENHOUSE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594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B8D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 ·  AUTOMATION  ·  SENSORS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28600" y="10058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Greenhouse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28600" y="16916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CC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28600" y="23774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3017520" cy="27432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1821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"Plants that water themselves.</a:t>
            </a:r>
            <a:endParaRPr lang="en-US" sz="95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agriculture starts here."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4069080"/>
            <a:ext cx="3017520" cy="822960"/>
          </a:xfrm>
          <a:prstGeom prst="rect">
            <a:avLst/>
          </a:prstGeom>
          <a:solidFill>
            <a:srgbClr val="071510"/>
          </a:solidFill>
          <a:ln w="12700">
            <a:solidFill>
              <a:srgbClr val="3A91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33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2  ·  Jain University × IBM Hackathon 2025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4389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Sumanth Gowda H L   ·   Sufiya Tabasum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Maneesha T M   ·   Mohammad Abuzar P J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31920" y="914400"/>
            <a:ext cx="1188720" cy="1188720"/>
          </a:xfrm>
          <a:prstGeom prst="ellipse">
            <a:avLst/>
          </a:prstGeom>
          <a:solidFill>
            <a:srgbClr val="122E1C"/>
          </a:solidFill>
          <a:ln w="2540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31920" y="120700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NodeMCU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ESP8266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2011680"/>
            <a:ext cx="1188720" cy="1188720"/>
          </a:xfrm>
          <a:prstGeom prst="ellipse">
            <a:avLst/>
          </a:prstGeom>
          <a:solidFill>
            <a:srgbClr val="122E1C"/>
          </a:solidFill>
          <a:ln w="2540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31920" y="23042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YL-69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Soil Sensor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31920" y="3108960"/>
            <a:ext cx="1188720" cy="1188720"/>
          </a:xfrm>
          <a:prstGeom prst="ellipse">
            <a:avLst/>
          </a:prstGeom>
          <a:solidFill>
            <a:srgbClr val="122E1C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0" y="340156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DHT11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 &amp; RH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31920" y="4114800"/>
            <a:ext cx="1188720" cy="1188720"/>
          </a:xfrm>
          <a:prstGeom prst="ellipse">
            <a:avLst/>
          </a:prstGeom>
          <a:solidFill>
            <a:srgbClr val="122E1C"/>
          </a:solidFill>
          <a:ln w="2540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440740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Blynk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App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26280" y="914400"/>
            <a:ext cx="0" cy="3474720"/>
          </a:xfrm>
          <a:prstGeom prst="line">
            <a:avLst/>
          </a:prstGeom>
          <a:noFill/>
          <a:ln w="12700">
            <a:solidFill>
              <a:srgbClr val="3A9130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5577840" y="1371600"/>
            <a:ext cx="1097280" cy="1371600"/>
          </a:xfrm>
          <a:prstGeom prst="rect">
            <a:avLst/>
          </a:prstGeom>
          <a:solidFill>
            <a:srgbClr val="122E1C"/>
          </a:solidFill>
          <a:ln w="1905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1371600"/>
            <a:ext cx="1097280" cy="54864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CC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₹2K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2084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12280" y="1371600"/>
            <a:ext cx="1097280" cy="137160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1371600"/>
            <a:ext cx="1097280" cy="54864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12280" y="2084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reduction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46720" y="1371600"/>
            <a:ext cx="1097280" cy="137160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46720" y="1371600"/>
            <a:ext cx="109728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5sec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046720" y="2084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refresh rate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49040" y="4480560"/>
            <a:ext cx="5303520" cy="548640"/>
          </a:xfrm>
          <a:prstGeom prst="rect">
            <a:avLst/>
          </a:prstGeom>
          <a:solidFill>
            <a:srgbClr val="3A9130"/>
          </a:solidFill>
          <a:ln w="12700">
            <a:solidFill>
              <a:srgbClr val="3A91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449884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JAIN UNIVERSITY  ×  IBM HACKATHON 2025  ·  PRECISION AGRICULTURE TRACK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474720" cy="1143000"/>
          </a:xfrm>
          <a:prstGeom prst="rect">
            <a:avLst/>
          </a:prstGeom>
          <a:solidFill>
            <a:srgbClr val="122E1C"/>
          </a:solidFill>
          <a:ln w="19050">
            <a:solidFill>
              <a:srgbClr val="E054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143000"/>
          </a:xfrm>
          <a:prstGeom prst="rect">
            <a:avLst/>
          </a:prstGeom>
          <a:solidFill>
            <a:srgbClr val="E05454"/>
          </a:solidFill>
          <a:ln w="12700">
            <a:solidFill>
              <a:srgbClr val="E05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greenhouse water wasted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manual irrigation guesswork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3474720" cy="114300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" cy="11430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77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 yield loss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unstable temperature &amp; humidity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3474720" cy="1143000"/>
          </a:xfrm>
          <a:prstGeom prst="rect">
            <a:avLst/>
          </a:prstGeom>
          <a:solidFill>
            <a:srgbClr val="122E1C"/>
          </a:solidFill>
          <a:ln w="1905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66160"/>
            <a:ext cx="64008" cy="1143000"/>
          </a:xfrm>
          <a:prstGeom prst="rect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9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5448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operating costs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automated greenhouse systems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841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Causes in Traditional Greenhouses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0" y="1371600"/>
            <a:ext cx="2240280" cy="1554480"/>
          </a:xfrm>
          <a:prstGeom prst="rect">
            <a:avLst/>
          </a:prstGeom>
          <a:solidFill>
            <a:srgbClr val="122E1C"/>
          </a:solidFill>
          <a:ln w="1270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1508760"/>
            <a:ext cx="640080" cy="640080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15361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51960" y="22128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Over/Under-Watering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252374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irrigation relies on guesswork — causing either waterlogging or drought stress in crops.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0" y="1371600"/>
            <a:ext cx="2240280" cy="1554480"/>
          </a:xfrm>
          <a:prstGeom prst="rect">
            <a:avLst/>
          </a:prstGeom>
          <a:solidFill>
            <a:srgbClr val="122E1C"/>
          </a:solidFill>
          <a:ln w="1270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0840" y="1508760"/>
            <a:ext cx="640080" cy="640080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15361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20840" y="22128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Instability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252374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temps stunt plant growth and create ideal conditions for fungal disease spread.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0" y="3108960"/>
            <a:ext cx="2240280" cy="1554480"/>
          </a:xfrm>
          <a:prstGeom prst="rect">
            <a:avLst/>
          </a:prstGeom>
          <a:solidFill>
            <a:srgbClr val="122E1C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3246120"/>
            <a:ext cx="640080" cy="6400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9392" y="3273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51960" y="3950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Light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51960" y="4261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light exposure reduces photosynthesis rates and lowers crop output significantly.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0" y="3108960"/>
            <a:ext cx="2240280" cy="1554480"/>
          </a:xfrm>
          <a:prstGeom prst="rect">
            <a:avLst/>
          </a:prstGeom>
          <a:solidFill>
            <a:srgbClr val="122E1C"/>
          </a:solidFill>
          <a:ln w="12700">
            <a:solidFill>
              <a:srgbClr val="E054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0840" y="3246120"/>
            <a:ext cx="640080" cy="640080"/>
          </a:xfrm>
          <a:prstGeom prst="ellipse">
            <a:avLst/>
          </a:prstGeom>
          <a:solidFill>
            <a:srgbClr val="E05454"/>
          </a:solidFill>
          <a:ln w="12700">
            <a:solidFill>
              <a:srgbClr val="E054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3273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20840" y="3950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Labor Dependency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4261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spend hours on manual checks — time and cost that erodes slim margins.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3A9130"/>
          </a:solidFill>
          <a:ln w="12700">
            <a:solidFill>
              <a:srgbClr val="3A91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→  A fully automated IoT greenhouse that monitors &amp; controls irrigation, temperature, humidity and lighting with zero daily manual intervention.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· 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Data 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965960"/>
            <a:ext cx="594360" cy="0"/>
          </a:xfrm>
          <a:prstGeom prst="line">
            <a:avLst/>
          </a:prstGeom>
          <a:noFill/>
          <a:ln w="31750">
            <a:solidFill>
              <a:srgbClr val="5ECC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7128" y="18470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CC44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1554480" cy="1737360"/>
          </a:xfrm>
          <a:prstGeom prst="rect">
            <a:avLst/>
          </a:prstGeom>
          <a:solidFill>
            <a:srgbClr val="122E1C"/>
          </a:solidFill>
          <a:ln w="2540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97280"/>
            <a:ext cx="1554480" cy="54864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07008"/>
            <a:ext cx="731520" cy="731520"/>
          </a:xfrm>
          <a:prstGeom prst="ellipse">
            <a:avLst/>
          </a:prstGeom>
          <a:solidFill>
            <a:srgbClr val="0A1F14"/>
          </a:solidFill>
          <a:ln w="19050">
            <a:solidFill>
              <a:srgbClr val="5ECC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34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" y="2029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395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YL-69 · DHT11 · LDR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66160" y="1965960"/>
            <a:ext cx="594360" cy="0"/>
          </a:xfrm>
          <a:prstGeom prst="line">
            <a:avLst/>
          </a:prstGeom>
          <a:noFill/>
          <a:ln w="31750">
            <a:solidFill>
              <a:srgbClr val="2EB8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18470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B89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57400" y="1097280"/>
            <a:ext cx="1554480" cy="1737360"/>
          </a:xfrm>
          <a:prstGeom prst="rect">
            <a:avLst/>
          </a:prstGeom>
          <a:solidFill>
            <a:srgbClr val="122E1C"/>
          </a:solidFill>
          <a:ln w="2540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57400" y="1097280"/>
            <a:ext cx="1554480" cy="54864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207008"/>
            <a:ext cx="731520" cy="731520"/>
          </a:xfrm>
          <a:prstGeom prst="ellipse">
            <a:avLst/>
          </a:prstGeom>
          <a:solidFill>
            <a:srgbClr val="0A1F14"/>
          </a:solidFill>
          <a:ln w="19050">
            <a:solidFill>
              <a:srgbClr val="2EB8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234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103120" y="2029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NodeMCU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2395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Wi-Fi MCU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394960" y="1965960"/>
            <a:ext cx="594360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4728" y="18470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1097280"/>
            <a:ext cx="1554480" cy="1737360"/>
          </a:xfrm>
          <a:prstGeom prst="rect">
            <a:avLst/>
          </a:prstGeom>
          <a:solidFill>
            <a:srgbClr val="122E1C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86200" y="1097280"/>
            <a:ext cx="155448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1207008"/>
            <a:ext cx="731520" cy="731520"/>
          </a:xfrm>
          <a:prstGeom prst="ellipse">
            <a:avLst/>
          </a:prstGeom>
          <a:solidFill>
            <a:srgbClr val="0A1F14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234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31920" y="2029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Wi-Fi BRIDGE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31920" y="2395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3760" y="1965960"/>
            <a:ext cx="594360" cy="0"/>
          </a:xfrm>
          <a:prstGeom prst="line">
            <a:avLst/>
          </a:prstGeom>
          <a:noFill/>
          <a:ln w="31750">
            <a:solidFill>
              <a:srgbClr val="F09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3528" y="18470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934A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1097280"/>
            <a:ext cx="1554480" cy="1737360"/>
          </a:xfrm>
          <a:prstGeom prst="rect">
            <a:avLst/>
          </a:prstGeom>
          <a:solidFill>
            <a:srgbClr val="122E1C"/>
          </a:solidFill>
          <a:ln w="2540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15000" y="1097280"/>
            <a:ext cx="1554480" cy="54864"/>
          </a:xfrm>
          <a:prstGeom prst="rect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207008"/>
            <a:ext cx="731520" cy="731520"/>
          </a:xfrm>
          <a:prstGeom prst="ellipse">
            <a:avLst/>
          </a:prstGeom>
          <a:solidFill>
            <a:srgbClr val="0A1F14"/>
          </a:solidFill>
          <a:ln w="19050">
            <a:solidFill>
              <a:srgbClr val="F09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234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760720" y="2029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BLYNK CLOUD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2395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Platform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543800" y="1097280"/>
            <a:ext cx="1554480" cy="1737360"/>
          </a:xfrm>
          <a:prstGeom prst="rect">
            <a:avLst/>
          </a:prstGeom>
          <a:solidFill>
            <a:srgbClr val="122E1C"/>
          </a:solidFill>
          <a:ln w="25400">
            <a:solidFill>
              <a:srgbClr val="E054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43800" y="1097280"/>
            <a:ext cx="1554480" cy="54864"/>
          </a:xfrm>
          <a:prstGeom prst="rect">
            <a:avLst/>
          </a:prstGeom>
          <a:solidFill>
            <a:srgbClr val="E05454"/>
          </a:solidFill>
          <a:ln w="12700">
            <a:solidFill>
              <a:srgbClr val="E054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1207008"/>
            <a:ext cx="731520" cy="731520"/>
          </a:xfrm>
          <a:prstGeom prst="ellipse">
            <a:avLst/>
          </a:prstGeom>
          <a:solidFill>
            <a:srgbClr val="0A1F14"/>
          </a:solidFill>
          <a:ln w="19050">
            <a:solidFill>
              <a:srgbClr val="E054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1234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589520" y="2029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89520" y="2395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7432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SUITE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401568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4320" y="343814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CC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YL-69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3822192"/>
            <a:ext cx="1234440" cy="0"/>
          </a:xfrm>
          <a:prstGeom prst="line">
            <a:avLst/>
          </a:prstGeom>
          <a:noFill/>
          <a:ln w="12700">
            <a:solidFill>
              <a:srgbClr val="5ECC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85876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Probe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voltage output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irrigation &lt; 60%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0" y="3401568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286000" y="343814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DHT11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560320" y="3822192"/>
            <a:ext cx="1234440" cy="0"/>
          </a:xfrm>
          <a:prstGeom prst="line">
            <a:avLst/>
          </a:prstGeom>
          <a:noFill/>
          <a:ln w="12700">
            <a:solidFill>
              <a:srgbClr val="2EB8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385876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Humidity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±2°C / ±5% RH accuracy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relay control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297680" y="3401568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297680" y="343814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LDR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0" y="3822192"/>
            <a:ext cx="1234440" cy="0"/>
          </a:xfrm>
          <a:prstGeom prst="line">
            <a:avLst/>
          </a:prstGeom>
          <a:noFill/>
          <a:ln w="12700">
            <a:solidFill>
              <a:srgbClr val="F5C8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858768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Intensity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photoresistor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grow light control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1792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ACTUATORS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3401568"/>
            <a:ext cx="8686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5ECC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352044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💧 Pump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05472" y="3401568"/>
            <a:ext cx="8686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5472" y="352044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🌀 Fan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93024" y="3401568"/>
            <a:ext cx="8686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93024" y="3520440"/>
            <a:ext cx="868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Data Flow: Sensors → NodeMCU (every 5 sec) → Threshold Check → Relay Actuation → Blynk Cloud Push → Mobile Dashboard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·  AUTOMATION LOGIC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Environmental Control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389120" cy="822960"/>
          </a:xfrm>
          <a:prstGeom prst="rect">
            <a:avLst/>
          </a:prstGeom>
          <a:solidFill>
            <a:srgbClr val="122E1C"/>
          </a:solidFill>
          <a:ln w="1905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54864" cy="822960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Soil Moisture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YL-69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91640" y="10058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0058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5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60%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42032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Soil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42032" y="1344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💧  Pump 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74520"/>
            <a:ext cx="4389120" cy="822960"/>
          </a:xfrm>
          <a:prstGeom prst="rect">
            <a:avLst/>
          </a:prstGeom>
          <a:solidFill>
            <a:srgbClr val="122E1C"/>
          </a:solidFill>
          <a:ln w="1905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874520"/>
            <a:ext cx="54864" cy="822960"/>
          </a:xfrm>
          <a:prstGeom prst="rect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47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258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196596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5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30°C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42032" y="1965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42032" y="23042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🌀  Fan 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4389120" cy="82296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34640"/>
            <a:ext cx="54864" cy="822960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07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Humidity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2186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91640" y="292608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9260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5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85%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Moisture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42032" y="3264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🌀  Fan 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794760"/>
            <a:ext cx="4389120" cy="82296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794760"/>
            <a:ext cx="54864" cy="8229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867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178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91640" y="388620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38862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5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25%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42032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Light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42032" y="42245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LED 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841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24-Hour Sensor Activity Log</a:t>
            </a:r>
            <a:endParaRPr lang="en-US" sz="11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4937760" y="118872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Shape 37"/>
          <p:cNvSpPr/>
          <p:nvPr/>
        </p:nvSpPr>
        <p:spPr>
          <a:xfrm>
            <a:off x="4983480" y="2697480"/>
            <a:ext cx="3840480" cy="0"/>
          </a:xfrm>
          <a:prstGeom prst="line">
            <a:avLst/>
          </a:prstGeom>
          <a:noFill/>
          <a:ln w="12700">
            <a:solidFill>
              <a:srgbClr val="5ECC44"/>
            </a:solidFill>
            <a:prstDash val="dash"/>
          </a:ln>
        </p:spPr>
      </p:sp>
      <p:sp>
        <p:nvSpPr>
          <p:cNvPr id="41" name="Text 38"/>
          <p:cNvSpPr/>
          <p:nvPr/>
        </p:nvSpPr>
        <p:spPr>
          <a:xfrm>
            <a:off x="5029200" y="2715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E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Irrigation trigger (60%)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4983480" y="2148840"/>
            <a:ext cx="3840480" cy="0"/>
          </a:xfrm>
          <a:prstGeom prst="line">
            <a:avLst/>
          </a:prstGeom>
          <a:noFill/>
          <a:ln w="12700">
            <a:solidFill>
              <a:srgbClr val="F0934A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5029200" y="2167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09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Fan trigger (30°C)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Sensors collect data every 5s  →  2. NodeMCU compares thresholds  →  3. Relay activates actuators  →  4. Blynk app updated in real time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·  IMPACT &amp; ROI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 Impact &amp; Rural Livelihood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01168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2011680" cy="64008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875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Saved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691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irrigation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41448" y="868680"/>
            <a:ext cx="201168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868680"/>
            <a:ext cx="2011680" cy="64008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9875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CC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60%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41448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Reduced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41448" y="1691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54296" y="868680"/>
            <a:ext cx="201168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868680"/>
            <a:ext cx="201168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9875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20%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54296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 Yield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54296" y="1691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environment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67144" y="868680"/>
            <a:ext cx="201168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67144" y="868680"/>
            <a:ext cx="2011680" cy="64008"/>
          </a:xfrm>
          <a:prstGeom prst="rect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9875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9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&lt;₹2K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67144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67144" y="1691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components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Performance: Automated vs Manual Greenhouse</a:t>
            </a:r>
            <a:endParaRPr lang="en-US" sz="11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468880"/>
          <a:ext cx="5029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4864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Cost Breakdown (₹2,000)</a:t>
            </a:r>
            <a:endParaRPr lang="en-US" sz="110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5440680" y="242316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3A9130"/>
          </a:solidFill>
          <a:ln w="12700">
            <a:solidFill>
              <a:srgbClr val="3A913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rural farming: Smart automation replaces daily manual work — saving water, reducing cost, and maximising crop yield for every small farmer.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·  INNOVATION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Us Different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697480" cy="1783080"/>
          </a:xfrm>
          <a:prstGeom prst="rect">
            <a:avLst/>
          </a:prstGeom>
          <a:solidFill>
            <a:srgbClr val="122E1C"/>
          </a:solidFill>
          <a:ln w="1905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685800" cy="685800"/>
          </a:xfrm>
          <a:prstGeom prst="ellipse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0515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Autonomous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detect, MCU decides, relays act — no human touch needed for daily greenhouse operations.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914400"/>
            <a:ext cx="2697480" cy="178308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051560"/>
            <a:ext cx="685800" cy="685800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078992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33088" y="10515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Blynk Dashboard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5848" y="184708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manually override your greenhouse live from any smartphone using the free Blynk IoT app.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914400"/>
            <a:ext cx="2697480" cy="178308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051560"/>
            <a:ext cx="685800" cy="68580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078992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77456" y="10515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5-Second Refresh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0216" y="184708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readings update every 5 seconds — near-instant automated responses to any change.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697480" cy="1783080"/>
          </a:xfrm>
          <a:prstGeom prst="rect">
            <a:avLst/>
          </a:prstGeom>
          <a:solidFill>
            <a:srgbClr val="122E1C"/>
          </a:solidFill>
          <a:ln w="1905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63240"/>
            <a:ext cx="685800" cy="685800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90672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₹2,000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8587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setup with NodeMCU, 3 sensors, relays, and actuators using off-the-shelf components.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18688" y="2926080"/>
            <a:ext cx="2697480" cy="1783080"/>
          </a:xfrm>
          <a:prstGeom prst="rect">
            <a:avLst/>
          </a:prstGeom>
          <a:solidFill>
            <a:srgbClr val="122E1C"/>
          </a:solidFill>
          <a:ln w="19050">
            <a:solidFill>
              <a:srgbClr val="9B7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5848" y="3063240"/>
            <a:ext cx="685800" cy="685800"/>
          </a:xfrm>
          <a:prstGeom prst="ellipse">
            <a:avLst/>
          </a:prstGeom>
          <a:solidFill>
            <a:srgbClr val="9B7AE8"/>
          </a:solidFill>
          <a:ln w="12700">
            <a:solidFill>
              <a:srgbClr val="9B7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090672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133088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A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UI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55848" y="38587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dashboard in Kannada, Telugu &amp; Hindi — no English literacy needed for rural farmers.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2926080"/>
            <a:ext cx="2697480" cy="1783080"/>
          </a:xfrm>
          <a:prstGeom prst="rect">
            <a:avLst/>
          </a:prstGeom>
          <a:solidFill>
            <a:srgbClr val="122E1C"/>
          </a:solidFill>
          <a:ln w="19050">
            <a:solidFill>
              <a:srgbClr val="E054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0216" y="3063240"/>
            <a:ext cx="685800" cy="685800"/>
          </a:xfrm>
          <a:prstGeom prst="ellipse">
            <a:avLst/>
          </a:prstGeom>
          <a:solidFill>
            <a:srgbClr val="E05454"/>
          </a:solidFill>
          <a:ln w="12700">
            <a:solidFill>
              <a:srgbClr val="E054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3090672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77456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Off-Grid Power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0216" y="38587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AA batteries and USB 5V — works in remote farms with no stable electricity supply.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differentiating features — autonomous, affordable, multilingual, and deployable on battery power in any rural setting.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9B7AE8"/>
          </a:solidFill>
          <a:ln w="12700">
            <a:solidFill>
              <a:srgbClr val="9B7A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·  ACCESSIBILITY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7A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Inclusivity &amp; Rural Reach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743200" cy="379476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2743200" cy="54864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87552"/>
            <a:ext cx="731520" cy="731520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14984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0058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Blynk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164592" cy="164592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Android or iOS smartphone — no PC required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642616"/>
            <a:ext cx="164592" cy="164592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146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Large-icon interface — no English or text literacy needed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328416"/>
            <a:ext cx="164592" cy="164592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004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in Kannada, Telugu &amp; Hindi for rural users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4014216"/>
            <a:ext cx="164592" cy="164592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 + manual override in one screen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868680"/>
            <a:ext cx="2743200" cy="379476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987552"/>
            <a:ext cx="731520" cy="7315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014984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60520" y="10058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Low-Cost &amp; Easy to Repair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1956816"/>
            <a:ext cx="164592" cy="16459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hardware under ₹2,000 — battery powered, no electrician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83280" y="2642616"/>
            <a:ext cx="164592" cy="16459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5146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parts available at any local electronics shop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3328416"/>
            <a:ext cx="164592" cy="16459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2004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Arduino firmware — any technician can modify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83280" y="4014216"/>
            <a:ext cx="164592" cy="16459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sensors can be individually replaced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868680"/>
            <a:ext cx="2743200" cy="3794760"/>
          </a:xfrm>
          <a:prstGeom prst="rect">
            <a:avLst/>
          </a:prstGeom>
          <a:solidFill>
            <a:srgbClr val="122E1C"/>
          </a:solidFill>
          <a:ln w="1905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868680"/>
            <a:ext cx="2743200" cy="54864"/>
          </a:xfrm>
          <a:prstGeom prst="rect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987552"/>
            <a:ext cx="731520" cy="731520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014984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📶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32320" y="10058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9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Rural-Ready Connectivity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55080" y="1956816"/>
            <a:ext cx="164592" cy="164592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828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basic 2G/3G mobile hotspot — no broadband needed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55080" y="2642616"/>
            <a:ext cx="164592" cy="164592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25146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automation continues offline if internet drops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55080" y="3328416"/>
            <a:ext cx="164592" cy="164592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32004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data: only small sensor payloads transmitted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55080" y="4014216"/>
            <a:ext cx="164592" cy="164592"/>
          </a:xfrm>
          <a:prstGeom prst="ellipse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farms with no stable electricity infrastructure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day one for farmers who may not speak English, own a computer, or have access to reliable power or internet.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· 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&amp; Future Vision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8046720" cy="0"/>
          </a:xfrm>
          <a:prstGeom prst="line">
            <a:avLst/>
          </a:prstGeom>
          <a:noFill/>
          <a:ln w="25400">
            <a:solidFill>
              <a:srgbClr val="3A91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011680"/>
            <a:ext cx="320040" cy="320040"/>
          </a:xfrm>
          <a:prstGeom prst="ellipse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274320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2743200" cy="54864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509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CC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987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A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261872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setup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41732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pump/fan/LED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57276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dashboard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172821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Battery-powered hardware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35608" y="1920240"/>
            <a:ext cx="0" cy="91440"/>
          </a:xfrm>
          <a:prstGeom prst="line">
            <a:avLst/>
          </a:prstGeom>
          <a:noFill/>
          <a:ln w="25400">
            <a:solidFill>
              <a:srgbClr val="5ECC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23160"/>
            <a:ext cx="2743200" cy="502920"/>
          </a:xfrm>
          <a:prstGeom prst="rect">
            <a:avLst/>
          </a:prstGeom>
          <a:solidFill>
            <a:srgbClr val="071510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&amp; Blynk demo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0" y="2011680"/>
            <a:ext cx="320040" cy="320040"/>
          </a:xfrm>
          <a:prstGeom prst="ellipse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868680"/>
            <a:ext cx="274320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9509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987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A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MONTHS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1261872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detection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10128" y="141732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irrigation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10128" y="157276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system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10128" y="172821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launch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70248" y="1920240"/>
            <a:ext cx="0" cy="91440"/>
          </a:xfrm>
          <a:prstGeom prst="line">
            <a:avLst/>
          </a:prstGeom>
          <a:noFill/>
          <a:ln w="25400">
            <a:solidFill>
              <a:srgbClr val="2EB8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423160"/>
            <a:ext cx="2743200" cy="502920"/>
          </a:xfrm>
          <a:prstGeom prst="rect">
            <a:avLst/>
          </a:prstGeom>
          <a:solidFill>
            <a:srgbClr val="071510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prototype + solar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49440" y="2011680"/>
            <a:ext cx="320040" cy="3200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868680"/>
            <a:ext cx="2743200" cy="1051560"/>
          </a:xfrm>
          <a:prstGeom prst="rect">
            <a:avLst/>
          </a:prstGeom>
          <a:solidFill>
            <a:srgbClr val="122E1C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868680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9509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06640" y="987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A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YEAR+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1261872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farm rollout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44768" y="141732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crop analytics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4768" y="157276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vertical farming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4768" y="172821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agri integration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04888" y="1920240"/>
            <a:ext cx="0" cy="9144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423160"/>
            <a:ext cx="2743200" cy="502920"/>
          </a:xfrm>
          <a:prstGeom prst="rect">
            <a:avLst/>
          </a:prstGeom>
          <a:solidFill>
            <a:srgbClr val="07151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 + govt pilots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4320" y="3063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Greenhouse Adoption Curve</a:t>
            </a:r>
            <a:endParaRPr lang="en-US" sz="11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274320" y="3429000"/>
          <a:ext cx="85953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E2B1A"/>
          </a:solidFill>
          <a:ln w="12700">
            <a:solidFill>
              <a:srgbClr val="0E2B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IoT Greenhouse Automation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4114800" cy="0"/>
          </a:xfrm>
          <a:prstGeom prst="line">
            <a:avLst/>
          </a:prstGeom>
          <a:noFill/>
          <a:ln w="19050">
            <a:solidFill>
              <a:srgbClr val="3A91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"Transforming traditional farming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intelligent, autonomous agriculture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affordable IoT automation."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4389120" cy="960120"/>
          </a:xfrm>
          <a:prstGeom prst="rect">
            <a:avLst/>
          </a:prstGeom>
          <a:solidFill>
            <a:srgbClr val="122E1C"/>
          </a:solidFill>
          <a:ln w="12700">
            <a:solidFill>
              <a:srgbClr val="3A91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C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2 — Jain University × IBM Hackathon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Sumanth Gowda H L  ·  Sufiya Tabasum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Maneesha T M  ·  Mohammad Abuzar P J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74320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57800" y="274320"/>
            <a:ext cx="178308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43891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57800" y="1097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96328" y="274320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2EB8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96328" y="274320"/>
            <a:ext cx="1783080" cy="54864"/>
          </a:xfrm>
          <a:prstGeom prst="rect">
            <a:avLst/>
          </a:prstGeom>
          <a:solidFill>
            <a:srgbClr val="2EB89A"/>
          </a:solidFill>
          <a:ln w="12700">
            <a:solidFill>
              <a:srgbClr val="2EB8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43891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B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96328" y="1097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refresh 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57800" y="1847088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5ECC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847088"/>
            <a:ext cx="1783080" cy="54864"/>
          </a:xfrm>
          <a:prstGeom prst="rect">
            <a:avLst/>
          </a:prstGeom>
          <a:solidFill>
            <a:srgbClr val="5ECC44"/>
          </a:solidFill>
          <a:ln w="12700">
            <a:solidFill>
              <a:srgbClr val="5ECC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011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CC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57800" y="26700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96328" y="1847088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F09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96328" y="1847088"/>
            <a:ext cx="1783080" cy="54864"/>
          </a:xfrm>
          <a:prstGeom prst="rect">
            <a:avLst/>
          </a:prstGeom>
          <a:solidFill>
            <a:srgbClr val="F0934A"/>
          </a:solidFill>
          <a:ln w="12700">
            <a:solidFill>
              <a:srgbClr val="F09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2011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9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20%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96328" y="26700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gain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57800" y="3419856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E054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57800" y="3419856"/>
            <a:ext cx="1783080" cy="54864"/>
          </a:xfrm>
          <a:prstGeom prst="rect">
            <a:avLst/>
          </a:prstGeom>
          <a:solidFill>
            <a:srgbClr val="E05454"/>
          </a:solidFill>
          <a:ln w="12700">
            <a:solidFill>
              <a:srgbClr val="E05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58444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60%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57800" y="42428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96328" y="3419856"/>
            <a:ext cx="1783080" cy="1417320"/>
          </a:xfrm>
          <a:prstGeom prst="rect">
            <a:avLst/>
          </a:prstGeom>
          <a:solidFill>
            <a:srgbClr val="122E1C"/>
          </a:solidFill>
          <a:ln w="19050">
            <a:solidFill>
              <a:srgbClr val="9B7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96328" y="3419856"/>
            <a:ext cx="1783080" cy="54864"/>
          </a:xfrm>
          <a:prstGeom prst="rect">
            <a:avLst/>
          </a:prstGeom>
          <a:solidFill>
            <a:srgbClr val="9B7AE8"/>
          </a:solidFill>
          <a:ln w="12700">
            <a:solidFill>
              <a:srgbClr val="9B7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358444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96328" y="42428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2026-03-14T12:37:59Z</dcterms:created>
  <dcterms:modified xsi:type="dcterms:W3CDTF">2026-03-14T12:37:59Z</dcterms:modified>
</cp:coreProperties>
</file>